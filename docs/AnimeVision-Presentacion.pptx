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8679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07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91440"/>
            <a:ext cx="2011680" cy="2011680"/>
          </a:xfrm>
          <a:prstGeom prst="ellipse">
            <a:avLst/>
          </a:prstGeom>
          <a:solidFill>
            <a:srgbClr val="6F7CFF">
              <a:alpha val="14000"/>
            </a:srgbClr>
          </a:solidFill>
          <a:ln w="12700">
            <a:solidFill>
              <a:srgbClr val="0712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94960"/>
            <a:ext cx="1645920" cy="1371600"/>
          </a:xfrm>
          <a:prstGeom prst="ellipse">
            <a:avLst/>
          </a:prstGeom>
          <a:solidFill>
            <a:srgbClr val="3FD0FF">
              <a:alpha val="10000"/>
            </a:srgbClr>
          </a:solidFill>
          <a:ln w="12700">
            <a:solidFill>
              <a:srgbClr val="07122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02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AnimeVision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6EB"/>
                </a:solidFill>
              </a:rPr>
              <a:t>Recomendador de anime a partir de imágenes con 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D0FF"/>
                </a:solidFill>
              </a:rPr>
              <a:t>Presentación del proyecto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 una imagen con IA para inferir géneros, tags y estilo visual.
</a:t>
            </a:r>
            <a:r>
              <a:rPr lang="en-US" sz="155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AniList para devolver recomendaciones relacionadas.
</a:t>
            </a:r>
            <a:r>
              <a:rPr lang="en-US" sz="155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 historial, favoritos y sesiones por usuario con autenticación.
</a:t>
            </a:r>
            <a:r>
              <a:rPr lang="en-US" sz="155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 front-end, back-end, IA y base de datos en una sola aplicación.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4526280"/>
            <a:ext cx="1920240" cy="347472"/>
          </a:xfrm>
          <a:prstGeom prst="roundRect">
            <a:avLst>
              <a:gd name="adj" fmla="val 23684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460857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7FF"/>
                </a:solidFill>
              </a:rPr>
              <a:t>React + Vite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88920" y="4526280"/>
            <a:ext cx="1920240" cy="347472"/>
          </a:xfrm>
          <a:prstGeom prst="roundRect">
            <a:avLst>
              <a:gd name="adj" fmla="val 23684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8648" y="460857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7FF"/>
                </a:solidFill>
              </a:rPr>
              <a:t>Express + JWT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5074920"/>
            <a:ext cx="1920240" cy="347472"/>
          </a:xfrm>
          <a:prstGeom prst="roundRect">
            <a:avLst>
              <a:gd name="adj" fmla="val 23684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515721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7FF"/>
                </a:solidFill>
              </a:rPr>
              <a:t>FastAPI + CLIP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88920" y="5074920"/>
            <a:ext cx="1920240" cy="347472"/>
          </a:xfrm>
          <a:prstGeom prst="roundRect">
            <a:avLst>
              <a:gd name="adj" fmla="val 23684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98648" y="515721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7FF"/>
                </a:solidFill>
              </a:rPr>
              <a:t>MongoDB Atlas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0720" y="594360"/>
            <a:ext cx="5806440" cy="5577840"/>
          </a:xfrm>
          <a:prstGeom prst="roundRect">
            <a:avLst>
              <a:gd name="adj" fmla="val 1967"/>
            </a:avLst>
          </a:prstGeom>
          <a:solidFill>
            <a:srgbClr val="0B1830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82296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35624" y="91440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F7FF"/>
                </a:solidFill>
              </a:rPr>
              <a:t>Inicio</a:t>
            </a:r>
            <a:endParaRPr lang="en-US" sz="1100" dirty="0"/>
          </a:p>
        </p:txBody>
      </p:sp>
      <p:pic>
        <p:nvPicPr>
          <p:cNvPr id="19" name="Image 0" descr="/mnt/data/2c1855ae-2532-43b8-9c04-7d37e6dd3d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998" y="1133856"/>
            <a:ext cx="2040684" cy="1892808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778240" y="82296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924544" y="91440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F7FF"/>
                </a:solidFill>
              </a:rPr>
              <a:t>Dashboard</a:t>
            </a:r>
            <a:endParaRPr lang="en-US" sz="1100" dirty="0"/>
          </a:p>
        </p:txBody>
      </p:sp>
      <p:pic>
        <p:nvPicPr>
          <p:cNvPr id="22" name="Image 1" descr="/mnt/data/500909fe-2b60-4491-8a5e-02f3e1df37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8179" y="1133856"/>
            <a:ext cx="2006163" cy="1892808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5989320" y="338328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135624" y="347472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F7FF"/>
                </a:solidFill>
              </a:rPr>
              <a:t>Historial</a:t>
            </a:r>
            <a:endParaRPr lang="en-US" sz="1100" dirty="0"/>
          </a:p>
        </p:txBody>
      </p:sp>
      <p:pic>
        <p:nvPicPr>
          <p:cNvPr id="25" name="Image 2" descr="/mnt/data/c8d0b422-15d1-4744-95e1-596cb546ffa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4110358"/>
            <a:ext cx="2350008" cy="969004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8778240" y="338328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8924544" y="347472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F7FF"/>
                </a:solidFill>
              </a:rPr>
              <a:t>Favoritos</a:t>
            </a:r>
            <a:endParaRPr lang="en-US" sz="1100" dirty="0"/>
          </a:p>
        </p:txBody>
      </p:sp>
      <p:pic>
        <p:nvPicPr>
          <p:cNvPr id="28" name="Image 3" descr="/mnt/data/1a14d384-af71-4394-867d-458e81902d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4016519"/>
            <a:ext cx="2350008" cy="115668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469880" y="632764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EB"/>
                </a:solidFill>
              </a:rPr>
              <a:t>Proyecto académico · 1</a:t>
            </a:r>
            <a:endParaRPr lang="en-US" sz="900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8380B39D-92C3-45D1-9446-4DFF745A30A0}"/>
              </a:ext>
            </a:extLst>
          </p:cNvPr>
          <p:cNvSpPr/>
          <p:nvPr/>
        </p:nvSpPr>
        <p:spPr>
          <a:xfrm>
            <a:off x="548640" y="579729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6EB"/>
                </a:solidFill>
              </a:rPr>
              <a:t>Jonathan Alexis Lozano Figueroa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91440"/>
            <a:ext cx="2011680" cy="2011680"/>
          </a:xfrm>
          <a:prstGeom prst="ellipse">
            <a:avLst/>
          </a:prstGeom>
          <a:solidFill>
            <a:srgbClr val="6F7CFF">
              <a:alpha val="14000"/>
            </a:srgbClr>
          </a:solidFill>
          <a:ln w="12700">
            <a:solidFill>
              <a:srgbClr val="0712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94960"/>
            <a:ext cx="1645920" cy="1371600"/>
          </a:xfrm>
          <a:prstGeom prst="ellipse">
            <a:avLst/>
          </a:prstGeom>
          <a:solidFill>
            <a:srgbClr val="3FD0FF">
              <a:alpha val="10000"/>
            </a:srgbClr>
          </a:solidFill>
          <a:ln w="12700">
            <a:solidFill>
              <a:srgbClr val="07122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AnimeVision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Problema, objetivo y propuesta de valor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877824"/>
            <a:ext cx="11292840" cy="0"/>
          </a:xfrm>
          <a:prstGeom prst="line">
            <a:avLst/>
          </a:prstGeom>
          <a:noFill/>
          <a:ln w="12700">
            <a:solidFill>
              <a:srgbClr val="244B86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51560"/>
            <a:ext cx="3703320" cy="5212080"/>
          </a:xfrm>
          <a:prstGeom prst="roundRect">
            <a:avLst>
              <a:gd name="adj" fmla="val 2963"/>
            </a:avLst>
          </a:prstGeom>
          <a:solidFill>
            <a:srgbClr val="0B1D3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261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7FF"/>
                </a:solidFill>
              </a:rPr>
              <a:t>Problema que resuelve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1664208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usuarios suelen descubrir anime por afinidad visual antes que por nombre o franquicia.
</a:t>
            </a:r>
            <a:r>
              <a:rPr lang="en-US" sz="132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plataformas tradicionales recomiendan por popularidad o historial textual, no por una imagen concreta.
</a:t>
            </a:r>
            <a:r>
              <a:rPr lang="en-US" sz="132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Muchos estudiantes entregan proyectos con front-end o back-end, pero no integran una IA usable dentro del flujo completo.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731520" y="41422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7FF"/>
                </a:solidFill>
              </a:rPr>
              <a:t>Objetivo general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B8C6EB"/>
                </a:solidFill>
              </a:rPr>
              <a:t>Construir una aplicación web que reciba una imagen como referencia, obtenga etiquetas útiles con IA y recomiende animes relacionados usando una API real.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4480560" y="1051560"/>
            <a:ext cx="7132320" cy="2331720"/>
          </a:xfrm>
          <a:prstGeom prst="roundRect">
            <a:avLst>
              <a:gd name="adj" fmla="val 4706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2618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7FF"/>
                </a:solidFill>
              </a:rPr>
              <a:t>Propuesta de valor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09160" y="1664208"/>
            <a:ext cx="2148840" cy="1325880"/>
          </a:xfrm>
          <a:prstGeom prst="roundRect">
            <a:avLst>
              <a:gd name="adj" fmla="val 8276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55464" y="18288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6F7CFF">
              <a:alpha val="90000"/>
            </a:srgbClr>
          </a:solidFill>
          <a:ln w="12700">
            <a:solidFill>
              <a:srgbClr val="6F7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77256" y="18288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Entrada visual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55464" y="2450592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6EB"/>
                </a:solidFill>
              </a:rPr>
              <a:t>La búsqueda parte de una imagen del usuario, no de una lista manual de géneros.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67728" y="1664208"/>
            <a:ext cx="2148840" cy="1325880"/>
          </a:xfrm>
          <a:prstGeom prst="roundRect">
            <a:avLst>
              <a:gd name="adj" fmla="val 8276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14032" y="18288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3FD0FF">
              <a:alpha val="90000"/>
            </a:srgbClr>
          </a:solidFill>
          <a:ln w="12700">
            <a:solidFill>
              <a:srgbClr val="3FD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14032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35824" y="18288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IA aplicada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14032" y="2450592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6EB"/>
                </a:solidFill>
              </a:rPr>
              <a:t>CLIP convierte la imagen en etiquetas y estilo visual para orientar la búsqueda.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235440" y="1664208"/>
            <a:ext cx="2148840" cy="1325880"/>
          </a:xfrm>
          <a:prstGeom prst="roundRect">
            <a:avLst>
              <a:gd name="adj" fmla="val 8276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81744" y="18288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4DD2A8">
              <a:alpha val="90000"/>
            </a:srgbClr>
          </a:solidFill>
          <a:ln w="12700">
            <a:solidFill>
              <a:srgbClr val="4DD2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81744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03536" y="18288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Experiencia completa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81744" y="2450592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6EB"/>
                </a:solidFill>
              </a:rPr>
              <a:t>Login, favoritos e historial convierten el prototipo en un sistema usable.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480560" y="3611880"/>
            <a:ext cx="7132320" cy="2651760"/>
          </a:xfrm>
          <a:prstGeom prst="roundRect">
            <a:avLst>
              <a:gd name="adj" fmla="val 4138"/>
            </a:avLst>
          </a:prstGeom>
          <a:solidFill>
            <a:srgbClr val="0B1D3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38221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7FF"/>
                </a:solidFill>
              </a:rPr>
              <a:t>Resultado esperado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754880" y="4169664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B8C6EB"/>
                </a:solidFill>
              </a:rPr>
              <a:t>Una plataforma académica con arquitectura completa y demostrable: interfaz atractiva, autenticación, recomendación asistida por IA, persistencia de datos y despliegue modular.</a:t>
            </a:r>
            <a:endParaRPr lang="en-US" sz="1260" dirty="0"/>
          </a:p>
        </p:txBody>
      </p:sp>
      <p:pic>
        <p:nvPicPr>
          <p:cNvPr id="32" name="Image 0" descr="/mnt/data/2c1855ae-2532-43b8-9c04-7d37e6dd3d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433" y="3886200"/>
            <a:ext cx="2218134" cy="20574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0469880" y="632764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EB"/>
                </a:solidFill>
              </a:rPr>
              <a:t>Proyecto académico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91440"/>
            <a:ext cx="2011680" cy="2011680"/>
          </a:xfrm>
          <a:prstGeom prst="ellipse">
            <a:avLst/>
          </a:prstGeom>
          <a:solidFill>
            <a:srgbClr val="6F7CFF">
              <a:alpha val="14000"/>
            </a:srgbClr>
          </a:solidFill>
          <a:ln w="12700">
            <a:solidFill>
              <a:srgbClr val="0712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94960"/>
            <a:ext cx="1645920" cy="1371600"/>
          </a:xfrm>
          <a:prstGeom prst="ellipse">
            <a:avLst/>
          </a:prstGeom>
          <a:solidFill>
            <a:srgbClr val="3FD0FF">
              <a:alpha val="10000"/>
            </a:srgbClr>
          </a:solidFill>
          <a:ln w="12700">
            <a:solidFill>
              <a:srgbClr val="07122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AnimeVision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Funcionalidades principales del sistema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877824"/>
            <a:ext cx="11292840" cy="0"/>
          </a:xfrm>
          <a:prstGeom prst="line">
            <a:avLst/>
          </a:prstGeom>
          <a:noFill/>
          <a:ln w="12700">
            <a:solidFill>
              <a:srgbClr val="244B86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3444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39903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6F7CFF">
              <a:alpha val="90000"/>
            </a:srgbClr>
          </a:solidFill>
          <a:ln w="12700">
            <a:solidFill>
              <a:srgbClr val="6F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380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62456" y="13990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Autenticación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0664" y="2020824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6EB"/>
                </a:solidFill>
              </a:rPr>
              <a:t>Registro, inicio de sesión y protección de rutas mediante JWT.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23444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9704" y="139903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3FD0FF">
              <a:alpha val="90000"/>
            </a:srgbClr>
          </a:solidFill>
          <a:ln w="12700">
            <a:solidFill>
              <a:srgbClr val="3FD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9704" y="1380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11496" y="13990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Carga de imágenes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9704" y="2020824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6EB"/>
                </a:solidFill>
              </a:rPr>
              <a:t>El usuario selecciona una portada, póster o screenshot para analizar.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2440" y="123444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38744" y="139903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4DD2A8">
              <a:alpha val="90000"/>
            </a:srgbClr>
          </a:solidFill>
          <a:ln w="12700">
            <a:solidFill>
              <a:srgbClr val="4DD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38744" y="1380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60536" y="13990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Etiquetas detectadas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38744" y="2020824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6EB"/>
                </a:solidFill>
              </a:rPr>
              <a:t>La IA devuelve labels con score y un estilo visual resumido.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324612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" y="341071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FFB454">
              <a:alpha val="90000"/>
            </a:srgbClr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3392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62456" y="34107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Recomendaciones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0664" y="4032504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6EB"/>
                </a:solidFill>
              </a:rPr>
              <a:t>Se consulta AniList y se reordenan resultados según coincidencia.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324612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9704" y="341071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FF7A8A">
              <a:alpha val="90000"/>
            </a:srgbClr>
          </a:solidFill>
          <a:ln w="12700">
            <a:solidFill>
              <a:srgbClr val="FF7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9704" y="3392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🕘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111496" y="34107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Historial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89704" y="4032504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6EB"/>
                </a:solidFill>
              </a:rPr>
              <a:t>Cada análisis puede guardarse para revisar búsquedas anteriores.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92440" y="324612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38744" y="341071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6F7CFF">
              <a:alpha val="90000"/>
            </a:srgbClr>
          </a:solidFill>
          <a:ln w="12700">
            <a:solidFill>
              <a:srgbClr val="6F7C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38744" y="3392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❤️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860536" y="34107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Favoritos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38744" y="4032504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6EB"/>
                </a:solidFill>
              </a:rPr>
              <a:t>Los animes recomendados pueden guardarse para consulta posterior.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94360" y="5440680"/>
            <a:ext cx="10972800" cy="640080"/>
          </a:xfrm>
          <a:prstGeom prst="roundRect">
            <a:avLst>
              <a:gd name="adj" fmla="val 17143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22960" y="564184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3F7FF"/>
                </a:solidFill>
              </a:rPr>
              <a:t>Cada módulo aporta evidencia para la exposición: interfaz, lógica de negocio, persistencia, API externa y componente de IA.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469880" y="632764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EB"/>
                </a:solidFill>
              </a:rPr>
              <a:t>Proyecto académico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91440"/>
            <a:ext cx="2011680" cy="2011680"/>
          </a:xfrm>
          <a:prstGeom prst="ellipse">
            <a:avLst/>
          </a:prstGeom>
          <a:solidFill>
            <a:srgbClr val="6F7CFF">
              <a:alpha val="14000"/>
            </a:srgbClr>
          </a:solidFill>
          <a:ln w="12700">
            <a:solidFill>
              <a:srgbClr val="0712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94960"/>
            <a:ext cx="1645920" cy="1371600"/>
          </a:xfrm>
          <a:prstGeom prst="ellipse">
            <a:avLst/>
          </a:prstGeom>
          <a:solidFill>
            <a:srgbClr val="3FD0FF">
              <a:alpha val="10000"/>
            </a:srgbClr>
          </a:solidFill>
          <a:ln w="12700">
            <a:solidFill>
              <a:srgbClr val="07122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AnimeVision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de usuario y experiencia principal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877824"/>
            <a:ext cx="11292840" cy="0"/>
          </a:xfrm>
          <a:prstGeom prst="line">
            <a:avLst/>
          </a:prstGeom>
          <a:noFill/>
          <a:ln w="12700">
            <a:solidFill>
              <a:srgbClr val="244B86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5760720" cy="5440680"/>
          </a:xfrm>
          <a:prstGeom prst="roundRect">
            <a:avLst>
              <a:gd name="adj" fmla="val 2017"/>
            </a:avLst>
          </a:prstGeom>
          <a:solidFill>
            <a:srgbClr val="0B1D3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3258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7FF"/>
                </a:solidFill>
              </a:rPr>
              <a:t>Paso a paso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86384" y="171907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F7CFF"/>
          </a:solidFill>
          <a:ln w="12700">
            <a:solidFill>
              <a:srgbClr val="6F7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72821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53312" y="175564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6EB"/>
                </a:solidFill>
              </a:rPr>
              <a:t>El usuario entra con su cuenta.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86384" y="245059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F7CFF"/>
          </a:solidFill>
          <a:ln w="12700">
            <a:solidFill>
              <a:srgbClr val="6F7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45973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53312" y="248716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6EB"/>
                </a:solidFill>
              </a:rPr>
              <a:t>Sube una imagen desde el dashboard.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86384" y="318211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F7CFF"/>
          </a:solidFill>
          <a:ln w="12700">
            <a:solidFill>
              <a:srgbClr val="6F7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19125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53312" y="321868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6EB"/>
                </a:solidFill>
              </a:rPr>
              <a:t>La IA genera etiquetas y estilo visual.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86384" y="391363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F7CFF"/>
          </a:solidFill>
          <a:ln w="12700">
            <a:solidFill>
              <a:srgbClr val="6F7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92277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53312" y="395020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6EB"/>
                </a:solidFill>
              </a:rPr>
              <a:t>El backend construye filtros y consulta AniList.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86384" y="46451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F7CFF"/>
          </a:solidFill>
          <a:ln w="12700">
            <a:solidFill>
              <a:srgbClr val="6F7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465429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53312" y="468172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6EB"/>
                </a:solidFill>
              </a:rPr>
              <a:t>Se muestran recomendaciones y pueden guardarse en favoritos.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86384" y="537667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F7CFF"/>
          </a:solidFill>
          <a:ln w="12700">
            <a:solidFill>
              <a:srgbClr val="6F7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538581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53312" y="541324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6EB"/>
                </a:solidFill>
              </a:rPr>
              <a:t>El análisis también queda disponible en historial.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46520" y="1097280"/>
            <a:ext cx="5120640" cy="5440680"/>
          </a:xfrm>
          <a:prstGeom prst="roundRect">
            <a:avLst>
              <a:gd name="adj" fmla="val 2143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20840" y="13258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7FF"/>
                </a:solidFill>
              </a:rPr>
              <a:t>Ejemplo visual del flujo</a:t>
            </a:r>
            <a:endParaRPr lang="en-US" sz="1800" dirty="0"/>
          </a:p>
        </p:txBody>
      </p:sp>
      <p:pic>
        <p:nvPicPr>
          <p:cNvPr id="30" name="Image 0" descr="/mnt/data/500909fe-2b60-4491-8a5e-02f3e1df37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688" y="1664208"/>
            <a:ext cx="4022017" cy="379476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711696" y="5577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8C6EB"/>
                </a:solidFill>
              </a:rPr>
              <a:t>El dashboard concentra la carga de imagen, el análisis y la zona de recomendaciones. Así se explica con facilidad durante la exposición.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10469880" y="632764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EB"/>
                </a:solidFill>
              </a:rPr>
              <a:t>Proyecto </a:t>
            </a:r>
            <a:r>
              <a:rPr lang="en-US" sz="900" dirty="0" err="1">
                <a:solidFill>
                  <a:srgbClr val="B8C6EB"/>
                </a:solidFill>
              </a:rPr>
              <a:t>académico</a:t>
            </a:r>
            <a:r>
              <a:rPr lang="en-US" sz="900" dirty="0">
                <a:solidFill>
                  <a:srgbClr val="B8C6EB"/>
                </a:solidFill>
              </a:rPr>
              <a:t>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91440"/>
            <a:ext cx="2011680" cy="2011680"/>
          </a:xfrm>
          <a:prstGeom prst="ellipse">
            <a:avLst/>
          </a:prstGeom>
          <a:solidFill>
            <a:srgbClr val="6F7CFF">
              <a:alpha val="14000"/>
            </a:srgbClr>
          </a:solidFill>
          <a:ln w="12700">
            <a:solidFill>
              <a:srgbClr val="0712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94960"/>
            <a:ext cx="1645920" cy="1371600"/>
          </a:xfrm>
          <a:prstGeom prst="ellipse">
            <a:avLst/>
          </a:prstGeom>
          <a:solidFill>
            <a:srgbClr val="3FD0FF">
              <a:alpha val="10000"/>
            </a:srgbClr>
          </a:solidFill>
          <a:ln w="12700">
            <a:solidFill>
              <a:srgbClr val="07122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AnimeVision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técnica del proyecto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877824"/>
            <a:ext cx="11292840" cy="0"/>
          </a:xfrm>
          <a:prstGeom prst="line">
            <a:avLst/>
          </a:prstGeom>
          <a:noFill/>
          <a:ln w="12700">
            <a:solidFill>
              <a:srgbClr val="244B86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43000"/>
            <a:ext cx="11064240" cy="5212080"/>
          </a:xfrm>
          <a:prstGeom prst="roundRect">
            <a:avLst>
              <a:gd name="adj" fmla="val 2105"/>
            </a:avLst>
          </a:prstGeom>
          <a:solidFill>
            <a:srgbClr val="0B1D3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288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0254A"/>
          </a:solidFill>
          <a:ln w="12700">
            <a:solidFill>
              <a:srgbClr val="6F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7FF"/>
                </a:solidFill>
              </a:rPr>
              <a:t>Front-end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2860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7CFF"/>
                </a:solidFill>
              </a:rPr>
              <a:t>React + Vite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9264" y="2542032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B8C6EB"/>
                </a:solidFill>
              </a:rPr>
              <a:t>Interfaz, navegación, carga de imágenes y visualización de resultados.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3246120" y="18288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0254A"/>
          </a:solidFill>
          <a:ln w="12700">
            <a:solidFill>
              <a:srgbClr val="3FD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7FF"/>
                </a:solidFill>
              </a:rPr>
              <a:t>Back-end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22860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D0FF"/>
                </a:solidFill>
              </a:rPr>
              <a:t>Express + JWT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92424" y="2542032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B8C6EB"/>
                </a:solidFill>
              </a:rPr>
              <a:t>Autenticación, lógica de negocio, conexión con IA, AniList y MongoDB.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5669280" y="18288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0254A"/>
          </a:solidFill>
          <a:ln w="12700">
            <a:solidFill>
              <a:srgbClr val="4DD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7FF"/>
                </a:solidFill>
              </a:rPr>
              <a:t>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06440" y="22860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DD2A8"/>
                </a:solidFill>
              </a:rPr>
              <a:t>FastAPI + CLIP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15584" y="2542032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B8C6EB"/>
                </a:solidFill>
              </a:rPr>
              <a:t>Zero-shot image classification, etiquetas detectadas y estilo visual.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092440" y="132588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10254A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463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7FF"/>
                </a:solidFill>
              </a:rPr>
              <a:t>AniList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0" y="17830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454"/>
                </a:solidFill>
              </a:rPr>
              <a:t>API externa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92440" y="292608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10254A"/>
          </a:solidFill>
          <a:ln w="12700">
            <a:solidFill>
              <a:srgbClr val="FF7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3063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7FF"/>
                </a:solidFill>
              </a:rPr>
              <a:t>MongoDB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0" y="33832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7A8A"/>
                </a:solidFill>
              </a:rPr>
              <a:t>Atlas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784080" y="1828800"/>
            <a:ext cx="1325880" cy="1371600"/>
          </a:xfrm>
          <a:prstGeom prst="roundRect">
            <a:avLst>
              <a:gd name="adj" fmla="val 8276"/>
            </a:avLst>
          </a:prstGeom>
          <a:solidFill>
            <a:srgbClr val="10254A"/>
          </a:solidFill>
          <a:ln w="12700">
            <a:solidFill>
              <a:srgbClr val="6F7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21240" y="19659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7FF"/>
                </a:solidFill>
              </a:rPr>
              <a:t>Historial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3F7FF"/>
                </a:solidFill>
              </a:rPr>
              <a:t>Favoritos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921240" y="22860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7CFF"/>
                </a:solidFill>
              </a:rPr>
              <a:t>Persistencia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16352" y="22128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D0FF"/>
                </a:solidFill>
              </a:rPr>
              <a:t>→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230368" y="22128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D0FF"/>
                </a:solidFill>
              </a:rPr>
              <a:t>→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662672" y="22128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D0FF"/>
                </a:solidFill>
              </a:rPr>
              <a:t>→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589520" y="16459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454"/>
                </a:solidFill>
              </a:rPr>
              <a:t>↗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571232" y="277977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7A8A"/>
                </a:solidFill>
              </a:rPr>
              <a:t>↘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464040" y="22128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D0FF"/>
                </a:solidFill>
              </a:rPr>
              <a:t>→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868680" y="4846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C6EB"/>
                </a:solidFill>
              </a:rPr>
              <a:t>La aplicación está pensada como sistema modular: el front consume el backend, el backend coordina la IA y los servicios externos, y MongoDB persiste información útil del usuario.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469880" y="632764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EB"/>
                </a:solidFill>
              </a:rPr>
              <a:t>Proyecto académico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91440"/>
            <a:ext cx="2011680" cy="2011680"/>
          </a:xfrm>
          <a:prstGeom prst="ellipse">
            <a:avLst/>
          </a:prstGeom>
          <a:solidFill>
            <a:srgbClr val="6F7CFF">
              <a:alpha val="14000"/>
            </a:srgbClr>
          </a:solidFill>
          <a:ln w="12700">
            <a:solidFill>
              <a:srgbClr val="0712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94960"/>
            <a:ext cx="1645920" cy="1371600"/>
          </a:xfrm>
          <a:prstGeom prst="ellipse">
            <a:avLst/>
          </a:prstGeom>
          <a:solidFill>
            <a:srgbClr val="3FD0FF">
              <a:alpha val="10000"/>
            </a:srgbClr>
          </a:solidFill>
          <a:ln w="12700">
            <a:solidFill>
              <a:srgbClr val="07122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AnimeVision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Lógica del módulo de IA y generación de recomendaciones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877824"/>
            <a:ext cx="11292840" cy="0"/>
          </a:xfrm>
          <a:prstGeom prst="line">
            <a:avLst/>
          </a:prstGeom>
          <a:noFill/>
          <a:ln w="12700">
            <a:solidFill>
              <a:srgbClr val="244B86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11064240" cy="5394960"/>
          </a:xfrm>
          <a:prstGeom prst="roundRect">
            <a:avLst>
              <a:gd name="adj" fmla="val 2034"/>
            </a:avLst>
          </a:prstGeom>
          <a:solidFill>
            <a:srgbClr val="0B1D3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173736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0254A"/>
          </a:solidFill>
          <a:ln w="12700">
            <a:solidFill>
              <a:srgbClr val="6F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7FF"/>
                </a:solidFill>
              </a:rPr>
              <a:t>Imagen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21284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B8C6EB"/>
                </a:solidFill>
              </a:rPr>
              <a:t>Entrada del usuario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322576" y="21122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D0FF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624328" y="173736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0254A"/>
          </a:solidFill>
          <a:ln w="12700">
            <a:solidFill>
              <a:srgbClr val="3FD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92024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7FF"/>
                </a:solidFill>
              </a:rPr>
              <a:t>Preproceso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221284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B8C6EB"/>
                </a:solidFill>
              </a:rPr>
              <a:t>Resize y limpieza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105656" y="21122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D0FF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407408" y="173736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0254A"/>
          </a:solidFill>
          <a:ln w="12700">
            <a:solidFill>
              <a:srgbClr val="4DD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92024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7FF"/>
                </a:solidFill>
              </a:rPr>
              <a:t>CLIP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221284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B8C6EB"/>
                </a:solidFill>
              </a:rPr>
              <a:t>Zero-shot labels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5888736" y="21122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D0FF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190488" y="173736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0254A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92024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7FF"/>
                </a:solidFill>
              </a:rPr>
              <a:t>Mapeo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21284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B8C6EB"/>
                </a:solidFill>
              </a:rPr>
              <a:t>Géneros y tags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671816" y="21122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D0FF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973568" y="173736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0254A"/>
          </a:solidFill>
          <a:ln w="12700">
            <a:solidFill>
              <a:srgbClr val="FF7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192024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7FF"/>
                </a:solidFill>
              </a:rPr>
              <a:t>Fallback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0" y="221284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B8C6EB"/>
                </a:solidFill>
              </a:rPr>
              <a:t>Estilo visual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9454896" y="21122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D0FF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756648" y="173736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0254A"/>
          </a:solidFill>
          <a:ln w="12700">
            <a:solidFill>
              <a:srgbClr val="6F7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9800" y="192024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7FF"/>
                </a:solidFill>
              </a:rPr>
              <a:t>AniList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29800" y="221284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B8C6EB"/>
                </a:solidFill>
              </a:rPr>
              <a:t>Ranking final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868680" y="3063240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B8C6EB"/>
                </a:solidFill>
              </a:rPr>
              <a:t>La IA no intenta “adivinar” el anime exacto; traduce la imagen a señales semánticas que luego se convierten en recomendaciones más explicables.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868680" y="3657600"/>
            <a:ext cx="4983480" cy="2331720"/>
          </a:xfrm>
          <a:prstGeom prst="roundRect">
            <a:avLst>
              <a:gd name="adj" fmla="val 4706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14984" y="3749040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F7FF"/>
                </a:solidFill>
              </a:rPr>
              <a:t>Ejemplo de análisis y resultado</a:t>
            </a:r>
            <a:endParaRPr lang="en-US" sz="1100" dirty="0"/>
          </a:p>
        </p:txBody>
      </p:sp>
      <p:pic>
        <p:nvPicPr>
          <p:cNvPr id="34" name="Image 0" descr="/mnt/data/500909fe-2b60-4491-8a5e-02f3e1df37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339" y="3968496"/>
            <a:ext cx="2006163" cy="1892808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6080760" y="3657600"/>
            <a:ext cx="4983480" cy="2331720"/>
          </a:xfrm>
          <a:prstGeom prst="roundRect">
            <a:avLst>
              <a:gd name="adj" fmla="val 4706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327648" y="38770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7FF"/>
                </a:solidFill>
              </a:rPr>
              <a:t>Puntos fuertes del enfoque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6355080" y="4321386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40" b="1" dirty="0">
                <a:solidFill>
                  <a:srgbClr val="4DD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usar imágenes como entrada principal del sistema.
</a:t>
            </a:r>
            <a:r>
              <a:rPr lang="en-US" sz="1240" b="1" dirty="0">
                <a:solidFill>
                  <a:srgbClr val="4DD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depende de un dataset propio entrenado desde cero.
</a:t>
            </a:r>
            <a:r>
              <a:rPr lang="en-US" sz="1240" b="1" dirty="0">
                <a:solidFill>
                  <a:srgbClr val="4DD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etiquetas visibles al usuario, lo que mejora la explicabilidad.
</a:t>
            </a:r>
            <a:r>
              <a:rPr lang="en-US" sz="1240" b="1" dirty="0">
                <a:solidFill>
                  <a:srgbClr val="4DD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 un fallback cuando no hay coincidencias fuertes.</a:t>
            </a:r>
            <a:endParaRPr lang="en-US" sz="1240" dirty="0"/>
          </a:p>
        </p:txBody>
      </p:sp>
      <p:sp>
        <p:nvSpPr>
          <p:cNvPr id="38" name="Text 35"/>
          <p:cNvSpPr/>
          <p:nvPr/>
        </p:nvSpPr>
        <p:spPr>
          <a:xfrm>
            <a:off x="10469880" y="632764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EB"/>
                </a:solidFill>
              </a:rPr>
              <a:t>Proyecto académico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91440"/>
            <a:ext cx="2011680" cy="2011680"/>
          </a:xfrm>
          <a:prstGeom prst="ellipse">
            <a:avLst/>
          </a:prstGeom>
          <a:solidFill>
            <a:srgbClr val="6F7CFF">
              <a:alpha val="14000"/>
            </a:srgbClr>
          </a:solidFill>
          <a:ln w="12700">
            <a:solidFill>
              <a:srgbClr val="0712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94960"/>
            <a:ext cx="1645920" cy="1371600"/>
          </a:xfrm>
          <a:prstGeom prst="ellipse">
            <a:avLst/>
          </a:prstGeom>
          <a:solidFill>
            <a:srgbClr val="3FD0FF">
              <a:alpha val="10000"/>
            </a:srgbClr>
          </a:solidFill>
          <a:ln w="12700">
            <a:solidFill>
              <a:srgbClr val="07122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AnimeVision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Persistencia, seguridad y rutas principales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877824"/>
            <a:ext cx="11292840" cy="0"/>
          </a:xfrm>
          <a:prstGeom prst="line">
            <a:avLst/>
          </a:prstGeom>
          <a:noFill/>
          <a:ln w="12700">
            <a:solidFill>
              <a:srgbClr val="244B86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3657600" cy="5349240"/>
          </a:xfrm>
          <a:prstGeom prst="roundRect">
            <a:avLst>
              <a:gd name="adj" fmla="val 3000"/>
            </a:avLst>
          </a:prstGeom>
          <a:solidFill>
            <a:srgbClr val="0B1D3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2984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7FF"/>
                </a:solidFill>
              </a:rPr>
              <a:t>Colecciones MongoDB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9808" y="1664208"/>
            <a:ext cx="3154680" cy="1005840"/>
          </a:xfrm>
          <a:prstGeom prst="roundRect">
            <a:avLst>
              <a:gd name="adj" fmla="val 10909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8288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6F7CFF">
              <a:alpha val="90000"/>
            </a:srgbClr>
          </a:solidFill>
          <a:ln w="12700">
            <a:solidFill>
              <a:srgbClr val="6F7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17904" y="18288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users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2322576"/>
            <a:ext cx="2862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6EB"/>
                </a:solidFill>
              </a:rPr>
              <a:t>Guarda nombre, correo, contraseña encriptada y rol.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" y="2788920"/>
            <a:ext cx="3154680" cy="1078992"/>
          </a:xfrm>
          <a:prstGeom prst="roundRect">
            <a:avLst>
              <a:gd name="adj" fmla="val 10169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295351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3FD0FF">
              <a:alpha val="90000"/>
            </a:srgbClr>
          </a:solidFill>
          <a:ln w="12700">
            <a:solidFill>
              <a:srgbClr val="3FD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935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🧾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17904" y="29535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analyses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3483864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6EB"/>
                </a:solidFill>
              </a:rPr>
              <a:t>Persistencia de imagen, labels detectadas, filtros usados y recomendaciones.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9808" y="4005072"/>
            <a:ext cx="3154680" cy="987552"/>
          </a:xfrm>
          <a:prstGeom prst="roundRect">
            <a:avLst>
              <a:gd name="adj" fmla="val 11111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09651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FF7A8A">
              <a:alpha val="90000"/>
            </a:srgbClr>
          </a:solidFill>
          <a:ln w="12700">
            <a:solidFill>
              <a:srgbClr val="FF7A8A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21" name="Text 19"/>
          <p:cNvSpPr/>
          <p:nvPr/>
        </p:nvSpPr>
        <p:spPr>
          <a:xfrm>
            <a:off x="896112" y="40919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❤️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17904" y="41696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favorites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" y="4649724"/>
            <a:ext cx="28620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6EB"/>
                </a:solidFill>
              </a:rPr>
              <a:t>Relaciona usuario con animes guardados desde el dashboard.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4672" y="5303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B8C6EB"/>
                </a:solidFill>
              </a:rPr>
              <a:t>JWT protege rutas privadas y permite que historial y favoritos pertenezcan a cada usuario.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4389120" y="1097280"/>
            <a:ext cx="3063240" cy="5349240"/>
          </a:xfrm>
          <a:prstGeom prst="roundRect">
            <a:avLst>
              <a:gd name="adj" fmla="val 3582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45152" y="12984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7FF"/>
                </a:solidFill>
              </a:rPr>
              <a:t>Endpoints clave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645152" y="1700784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0B1D3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1783080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F3F7FF"/>
                </a:solidFill>
              </a:rPr>
              <a:t>POST /api/auth/register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4645152" y="2139696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0B1D3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222199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F3F7FF"/>
                </a:solidFill>
              </a:rPr>
              <a:t>POST /api/auth/login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4645152" y="2578608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0B1D3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266090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F3F7FF"/>
                </a:solidFill>
              </a:rPr>
              <a:t>POST /api/recommendations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4645152" y="3017520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0B1D3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3099816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F3F7FF"/>
                </a:solidFill>
              </a:rPr>
              <a:t>GET /api/history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4645152" y="3456432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0B1D3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353872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F3F7FF"/>
                </a:solidFill>
              </a:rPr>
              <a:t>DELETE /api/history/:id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4645152" y="3895344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0B1D3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3977640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F3F7FF"/>
                </a:solidFill>
              </a:rPr>
              <a:t>GET /api/favorites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4645152" y="4334256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0B1D3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441655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F3F7FF"/>
                </a:solidFill>
              </a:rPr>
              <a:t>POST /api/favorites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4645152" y="4773168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0B1D3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485546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F3F7FF"/>
                </a:solidFill>
              </a:rPr>
              <a:t>DELETE /api/favorites/:id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7635240" y="1097280"/>
            <a:ext cx="3931920" cy="2560320"/>
          </a:xfrm>
          <a:prstGeom prst="roundRect">
            <a:avLst>
              <a:gd name="adj" fmla="val 4286"/>
            </a:avLst>
          </a:prstGeom>
          <a:solidFill>
            <a:srgbClr val="0B1D3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882128" y="12984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7FF"/>
                </a:solidFill>
              </a:rPr>
              <a:t>Vistas del usuario</a:t>
            </a:r>
            <a:endParaRPr lang="en-US" sz="1800" dirty="0"/>
          </a:p>
        </p:txBody>
      </p:sp>
      <p:pic>
        <p:nvPicPr>
          <p:cNvPr id="45" name="Image 0" descr="/mnt/data/c8d0b422-15d1-4744-95e1-596cb546ff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2" y="2098338"/>
            <a:ext cx="1664208" cy="686221"/>
          </a:xfrm>
          <a:prstGeom prst="rect">
            <a:avLst/>
          </a:prstGeom>
        </p:spPr>
      </p:pic>
      <p:pic>
        <p:nvPicPr>
          <p:cNvPr id="46" name="Image 1" descr="/mnt/data/1a14d384-af71-4394-867d-458e81902d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2031884"/>
            <a:ext cx="1664208" cy="819129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7882128" y="32552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B8C6EB"/>
                </a:solidFill>
              </a:rPr>
              <a:t>Historial y favoritos completan la parte “de producto” del proyecto.</a:t>
            </a:r>
            <a:endParaRPr lang="en-US" sz="1120" dirty="0"/>
          </a:p>
        </p:txBody>
      </p:sp>
      <p:sp>
        <p:nvSpPr>
          <p:cNvPr id="48" name="Shape 44"/>
          <p:cNvSpPr/>
          <p:nvPr/>
        </p:nvSpPr>
        <p:spPr>
          <a:xfrm>
            <a:off x="7635240" y="3840480"/>
            <a:ext cx="3931920" cy="2606040"/>
          </a:xfrm>
          <a:prstGeom prst="roundRect">
            <a:avLst>
              <a:gd name="adj" fmla="val 4211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Text 45"/>
          <p:cNvSpPr/>
          <p:nvPr/>
        </p:nvSpPr>
        <p:spPr>
          <a:xfrm>
            <a:off x="7882128" y="40416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7FF"/>
                </a:solidFill>
              </a:rPr>
              <a:t>Seguridad y control de acceso</a:t>
            </a:r>
            <a:endParaRPr lang="en-US" sz="1800" dirty="0"/>
          </a:p>
        </p:txBody>
      </p:sp>
      <p:sp>
        <p:nvSpPr>
          <p:cNvPr id="50" name="Text 46"/>
          <p:cNvSpPr/>
          <p:nvPr/>
        </p:nvSpPr>
        <p:spPr>
          <a:xfrm>
            <a:off x="7909560" y="438912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2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Rutas protegidas mediante token JWT.
</a:t>
            </a:r>
            <a:r>
              <a:rPr lang="en-US" sz="122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2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segmentados por usuario autenticado.
</a:t>
            </a:r>
            <a:r>
              <a:rPr lang="en-US" sz="122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2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de entrada para formularios e imágenes.</a:t>
            </a:r>
            <a:endParaRPr lang="en-US" sz="1220" dirty="0"/>
          </a:p>
        </p:txBody>
      </p:sp>
      <p:sp>
        <p:nvSpPr>
          <p:cNvPr id="51" name="Text 47"/>
          <p:cNvSpPr/>
          <p:nvPr/>
        </p:nvSpPr>
        <p:spPr>
          <a:xfrm>
            <a:off x="10469880" y="632764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EB"/>
                </a:solidFill>
              </a:rPr>
              <a:t>Proyecto académico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91440"/>
            <a:ext cx="2011680" cy="2011680"/>
          </a:xfrm>
          <a:prstGeom prst="ellipse">
            <a:avLst/>
          </a:prstGeom>
          <a:solidFill>
            <a:srgbClr val="6F7CFF">
              <a:alpha val="14000"/>
            </a:srgbClr>
          </a:solidFill>
          <a:ln w="12700">
            <a:solidFill>
              <a:srgbClr val="0712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94960"/>
            <a:ext cx="1645920" cy="1371600"/>
          </a:xfrm>
          <a:prstGeom prst="ellipse">
            <a:avLst/>
          </a:prstGeom>
          <a:solidFill>
            <a:srgbClr val="3FD0FF">
              <a:alpha val="10000"/>
            </a:srgbClr>
          </a:solidFill>
          <a:ln w="12700">
            <a:solidFill>
              <a:srgbClr val="07122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AnimeVision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Interfaz del sistema y pantallas principales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877824"/>
            <a:ext cx="11292840" cy="0"/>
          </a:xfrm>
          <a:prstGeom prst="line">
            <a:avLst/>
          </a:prstGeom>
          <a:noFill/>
          <a:ln w="12700">
            <a:solidFill>
              <a:srgbClr val="244B86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43000"/>
            <a:ext cx="5532120" cy="2377440"/>
          </a:xfrm>
          <a:prstGeom prst="roundRect">
            <a:avLst>
              <a:gd name="adj" fmla="val 4615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" y="1234440"/>
            <a:ext cx="5239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F7FF"/>
                </a:solidFill>
              </a:rPr>
              <a:t>Pantalla de inicio</a:t>
            </a:r>
            <a:endParaRPr lang="en-US" sz="1100" dirty="0"/>
          </a:p>
        </p:txBody>
      </p:sp>
      <p:pic>
        <p:nvPicPr>
          <p:cNvPr id="9" name="Image 0" descr="/mnt/data/2c1855ae-2532-43b8-9c04-7d37e6dd3d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992" y="1453896"/>
            <a:ext cx="2089976" cy="19385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72200" y="114300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18504" y="1234440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F7FF"/>
                </a:solidFill>
              </a:rPr>
              <a:t>Dashboard de análisis</a:t>
            </a:r>
            <a:endParaRPr lang="en-US" sz="1100" dirty="0"/>
          </a:p>
        </p:txBody>
      </p:sp>
      <p:pic>
        <p:nvPicPr>
          <p:cNvPr id="12" name="Image 1" descr="/mnt/data/500909fe-2b60-4491-8a5e-02f3e1df37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370" y="1453896"/>
            <a:ext cx="2054621" cy="193852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2920" y="3703320"/>
            <a:ext cx="5532120" cy="2423160"/>
          </a:xfrm>
          <a:prstGeom prst="roundRect">
            <a:avLst>
              <a:gd name="adj" fmla="val 4528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49224" y="3794760"/>
            <a:ext cx="5239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F7FF"/>
                </a:solidFill>
              </a:rPr>
              <a:t>Historial del usuario</a:t>
            </a:r>
            <a:endParaRPr lang="en-US" sz="1100" dirty="0"/>
          </a:p>
        </p:txBody>
      </p:sp>
      <p:pic>
        <p:nvPicPr>
          <p:cNvPr id="15" name="Image 2" descr="/mnt/data/c8d0b422-15d1-4744-95e1-596cb546ffa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903" y="4014216"/>
            <a:ext cx="4812155" cy="198424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72200" y="3703320"/>
            <a:ext cx="5394960" cy="2423160"/>
          </a:xfrm>
          <a:prstGeom prst="roundRect">
            <a:avLst>
              <a:gd name="adj" fmla="val 4528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318504" y="3794760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F7FF"/>
                </a:solidFill>
              </a:rPr>
              <a:t>Favoritos guardados</a:t>
            </a:r>
            <a:endParaRPr lang="en-US" sz="1100" dirty="0"/>
          </a:p>
        </p:txBody>
      </p:sp>
      <p:pic>
        <p:nvPicPr>
          <p:cNvPr id="18" name="Image 3" descr="/mnt/data/1a14d384-af71-4394-867d-458e81902d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4001" y="4014216"/>
            <a:ext cx="4031358" cy="19842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469880" y="632764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EB"/>
                </a:solidFill>
              </a:rPr>
              <a:t>Proyecto académico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91440"/>
            <a:ext cx="2011680" cy="2011680"/>
          </a:xfrm>
          <a:prstGeom prst="ellipse">
            <a:avLst/>
          </a:prstGeom>
          <a:solidFill>
            <a:srgbClr val="6F7CFF">
              <a:alpha val="14000"/>
            </a:srgbClr>
          </a:solidFill>
          <a:ln w="12700">
            <a:solidFill>
              <a:srgbClr val="0712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94960"/>
            <a:ext cx="1645920" cy="1371600"/>
          </a:xfrm>
          <a:prstGeom prst="ellipse">
            <a:avLst/>
          </a:prstGeom>
          <a:solidFill>
            <a:srgbClr val="3FD0FF">
              <a:alpha val="10000"/>
            </a:srgbClr>
          </a:solidFill>
          <a:ln w="12700">
            <a:solidFill>
              <a:srgbClr val="07122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AnimeVision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Despliegue, resultados del prototipo y mejoras futuras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877824"/>
            <a:ext cx="11292840" cy="0"/>
          </a:xfrm>
          <a:prstGeom prst="line">
            <a:avLst/>
          </a:prstGeom>
          <a:noFill/>
          <a:ln w="12700">
            <a:solidFill>
              <a:srgbClr val="244B86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5349240" cy="5394960"/>
          </a:xfrm>
          <a:prstGeom prst="roundRect">
            <a:avLst>
              <a:gd name="adj" fmla="val 2051"/>
            </a:avLst>
          </a:prstGeom>
          <a:solidFill>
            <a:srgbClr val="0B1D3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2984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7FF"/>
                </a:solidFill>
              </a:rPr>
              <a:t>Despliegue propuesto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9808" y="1664208"/>
            <a:ext cx="2240280" cy="1097280"/>
          </a:xfrm>
          <a:prstGeom prst="roundRect">
            <a:avLst>
              <a:gd name="adj" fmla="val 10000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8288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6F7CFF">
              <a:alpha val="90000"/>
            </a:srgbClr>
          </a:solidFill>
          <a:ln w="12700">
            <a:solidFill>
              <a:srgbClr val="6F7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17904" y="1828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Frontend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2359151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6EB"/>
                </a:solidFill>
              </a:rPr>
              <a:t>Vercel para publicar la interfaz de React.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1664208"/>
            <a:ext cx="2240280" cy="1097280"/>
          </a:xfrm>
          <a:prstGeom prst="roundRect">
            <a:avLst>
              <a:gd name="adj" fmla="val 10000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2424" y="18288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3FD0FF">
              <a:alpha val="90000"/>
            </a:srgbClr>
          </a:solidFill>
          <a:ln w="12700">
            <a:solidFill>
              <a:srgbClr val="3FD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92424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14216" y="1828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Backend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92424" y="2389631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6EB"/>
                </a:solidFill>
              </a:rPr>
              <a:t>Render para la API principal del sistema.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9808" y="2907792"/>
            <a:ext cx="2240280" cy="1097280"/>
          </a:xfrm>
          <a:prstGeom prst="roundRect">
            <a:avLst>
              <a:gd name="adj" fmla="val 10000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307238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4DD2A8">
              <a:alpha val="90000"/>
            </a:srgbClr>
          </a:solidFill>
          <a:ln w="12700">
            <a:solidFill>
              <a:srgbClr val="4DD2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054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17904" y="30723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IA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593592"/>
            <a:ext cx="212835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6EB"/>
                </a:solidFill>
              </a:rPr>
              <a:t>Hugging Face Spaces o ejecución local según memoria disponible.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46120" y="2907792"/>
            <a:ext cx="2240280" cy="1097280"/>
          </a:xfrm>
          <a:prstGeom prst="roundRect">
            <a:avLst>
              <a:gd name="adj" fmla="val 10000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92424" y="307238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FFB454">
              <a:alpha val="90000"/>
            </a:srgbClr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92424" y="3054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014216" y="30723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Base de datos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92424" y="3626951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6EB"/>
                </a:solidFill>
              </a:rPr>
              <a:t>MongoDB Atlas para usuarios, análisis y favoritos.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7240" y="4315968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B8C6EB"/>
                </a:solidFill>
              </a:rPr>
              <a:t>El mayor reto técnico fue el consumo de memoria del modelo de IA en despliegue gratuito. La solución fue separar el componente pesado del resto de la arquitectura.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6080760" y="1097280"/>
            <a:ext cx="5486400" cy="2606040"/>
          </a:xfrm>
          <a:prstGeom prst="roundRect">
            <a:avLst>
              <a:gd name="adj" fmla="val 4211"/>
            </a:avLst>
          </a:prstGeom>
          <a:solidFill>
            <a:srgbClr val="10254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27648" y="1298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7FF"/>
                </a:solidFill>
              </a:rPr>
              <a:t>Resultados del prototipo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355080" y="1719071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40" b="1" dirty="0">
                <a:solidFill>
                  <a:srgbClr val="4DD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funcional con login, carga de imagen, recomendaciones y vistas por usuario.
</a:t>
            </a:r>
            <a:r>
              <a:rPr lang="en-US" sz="1240" b="1" dirty="0">
                <a:solidFill>
                  <a:srgbClr val="4DD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real con AniList y persistencia con MongoDB Atlas.
</a:t>
            </a:r>
            <a:r>
              <a:rPr lang="en-US" sz="1240" b="1" dirty="0">
                <a:solidFill>
                  <a:srgbClr val="4DD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Demostración visual suficiente para exposición académica y repositorio en GitHub.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6080760" y="3840480"/>
            <a:ext cx="5486400" cy="2651760"/>
          </a:xfrm>
          <a:prstGeom prst="roundRect">
            <a:avLst>
              <a:gd name="adj" fmla="val 4138"/>
            </a:avLst>
          </a:prstGeom>
          <a:solidFill>
            <a:srgbClr val="0B1D3A"/>
          </a:solidFill>
          <a:ln w="12700">
            <a:solidFill>
              <a:srgbClr val="244B8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27648" y="4041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7FF"/>
                </a:solidFill>
              </a:rPr>
              <a:t>Mejoras futuras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355080" y="43891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4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Agregar explicación del tipo “por qué te recomendamos esto”.
</a:t>
            </a:r>
            <a:r>
              <a:rPr lang="en-US" sz="124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Optimizar el módulo de IA para reducir recursos y mejorar despliegue.
</a:t>
            </a:r>
            <a:r>
              <a:rPr lang="en-US" sz="1240" b="1" dirty="0">
                <a:solidFill>
                  <a:srgbClr val="3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B8C6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Permitir filtros manuales adicionales y eliminar/gestionar favoritos con más acciones.</a:t>
            </a:r>
            <a:endParaRPr lang="en-US" sz="1240" dirty="0"/>
          </a:p>
        </p:txBody>
      </p:sp>
      <p:sp>
        <p:nvSpPr>
          <p:cNvPr id="36" name="Text 34"/>
          <p:cNvSpPr/>
          <p:nvPr/>
        </p:nvSpPr>
        <p:spPr>
          <a:xfrm>
            <a:off x="624840" y="5779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D0FF"/>
                </a:solidFill>
              </a:rPr>
              <a:t>Conclusión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783080" y="5742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20" dirty="0">
                <a:solidFill>
                  <a:srgbClr val="F3F7FF"/>
                </a:solidFill>
              </a:rPr>
              <a:t>AnimeVision demuestra una integración completa entre interfaz, lógica de negocio, almacenamiento y un componente de IA orientado a recomendaciones útiles.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10469880" y="632764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EB"/>
                </a:solidFill>
              </a:rPr>
              <a:t>Proyecto académico ·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1097</Words>
  <Application>Microsoft Office PowerPoint</Application>
  <PresentationFormat>Panorámica</PresentationFormat>
  <Paragraphs>189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AnimeVision – Presentación del Proyecto</dc:title>
  <dc:subject>AnimeVision project presentation</dc:subject>
  <dc:creator>OpenAI</dc:creator>
  <cp:lastModifiedBy>Jonathan Lozano</cp:lastModifiedBy>
  <cp:revision>2</cp:revision>
  <dcterms:created xsi:type="dcterms:W3CDTF">2026-04-17T05:53:29Z</dcterms:created>
  <dcterms:modified xsi:type="dcterms:W3CDTF">2026-04-17T06:01:14Z</dcterms:modified>
</cp:coreProperties>
</file>